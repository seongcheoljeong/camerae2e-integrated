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c02e59197e4001" /><Relationship Type="http://schemas.openxmlformats.org/officeDocument/2006/relationships/extended-properties" Target="/docProps/app.xml" Id="R7a504b105c75409a" /><Relationship Type="http://schemas.openxmlformats.org/officeDocument/2006/relationships/officeDocument" Target="/ppt/presentation.xml" Id="Rc096d1bf41a841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f636ac6384768"/>
  </p:sldMasterIdLst>
  <p:notesMasterIdLst>
    <p:notesMasterId xmlns:r="http://schemas.openxmlformats.org/officeDocument/2006/relationships" r:id="Rf08c650d613f4fc2"/>
  </p:notesMasterIdLst>
  <p:sldIdLst>
    <p:sldId xmlns:r="http://schemas.openxmlformats.org/officeDocument/2006/relationships" id="256" r:id="R2d0b2cc188ca48ab"/>
    <p:sldId xmlns:r="http://schemas.openxmlformats.org/officeDocument/2006/relationships" id="257" r:id="R1364c1de77a745f8"/>
    <p:sldId xmlns:r="http://schemas.openxmlformats.org/officeDocument/2006/relationships" id="258" r:id="R3c61dd1245ff471b"/>
    <p:sldId xmlns:r="http://schemas.openxmlformats.org/officeDocument/2006/relationships" id="259" r:id="Rf286c48a063e4bc6"/>
    <p:sldId xmlns:r="http://schemas.openxmlformats.org/officeDocument/2006/relationships" id="260" r:id="R8aa4cab36ead44aa"/>
    <p:sldId xmlns:r="http://schemas.openxmlformats.org/officeDocument/2006/relationships" id="261" r:id="Rd62eb7e5f11f4399"/>
    <p:sldId xmlns:r="http://schemas.openxmlformats.org/officeDocument/2006/relationships" id="262" r:id="R5193fb7429fb498b"/>
    <p:sldId xmlns:r="http://schemas.openxmlformats.org/officeDocument/2006/relationships" id="263" r:id="Rd778530b1b3b4b1a"/>
    <p:sldId xmlns:r="http://schemas.openxmlformats.org/officeDocument/2006/relationships" id="264" r:id="R9e9347b90bf749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5979e5a0d4625" /><Relationship Type="http://schemas.openxmlformats.org/officeDocument/2006/relationships/slideMaster" Target="/ppt/slideMasters/slideMaster1.xml" Id="R351f636ac6384768" /><Relationship Type="http://schemas.openxmlformats.org/officeDocument/2006/relationships/notesMaster" Target="/ppt/notesMasters/notesMaster1.xml" Id="Rf08c650d613f4fc2" /><Relationship Type="http://schemas.openxmlformats.org/officeDocument/2006/relationships/presProps" Target="/ppt/presProps.xml" Id="R33ccc09d72c64b5d" /><Relationship Type="http://schemas.openxmlformats.org/officeDocument/2006/relationships/tableStyles" Target="/ppt/tableStyles.xml" Id="R2aced531d9174c27" /><Relationship Type="http://schemas.openxmlformats.org/officeDocument/2006/relationships/slide" Target="/ppt/slides/slide1.xml" Id="R2d0b2cc188ca48ab" /><Relationship Type="http://schemas.openxmlformats.org/officeDocument/2006/relationships/slide" Target="/ppt/slides/slide2.xml" Id="R1364c1de77a745f8" /><Relationship Type="http://schemas.openxmlformats.org/officeDocument/2006/relationships/slide" Target="/ppt/slides/slide3.xml" Id="R3c61dd1245ff471b" /><Relationship Type="http://schemas.openxmlformats.org/officeDocument/2006/relationships/slide" Target="/ppt/slides/slide4.xml" Id="Rf286c48a063e4bc6" /><Relationship Type="http://schemas.openxmlformats.org/officeDocument/2006/relationships/slide" Target="/ppt/slides/slide5.xml" Id="R8aa4cab36ead44aa" /><Relationship Type="http://schemas.openxmlformats.org/officeDocument/2006/relationships/slide" Target="/ppt/slides/slide6.xml" Id="Rd62eb7e5f11f4399" /><Relationship Type="http://schemas.openxmlformats.org/officeDocument/2006/relationships/slide" Target="/ppt/slides/slide7.xml" Id="R5193fb7429fb498b" /><Relationship Type="http://schemas.openxmlformats.org/officeDocument/2006/relationships/slide" Target="/ppt/slides/slide8.xml" Id="Rd778530b1b3b4b1a" /><Relationship Type="http://schemas.openxmlformats.org/officeDocument/2006/relationships/slide" Target="/ppt/slides/slide9.xml" Id="R9e9347b90bf749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cf0ab5471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9f14678b342d8" /><Relationship Type="http://schemas.openxmlformats.org/officeDocument/2006/relationships/notesMaster" Target="/ppt/notesMasters/notesMaster1.xml" Id="R9c9fc4d6dd6542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6c1753a4b24d04" /><Relationship Type="http://schemas.openxmlformats.org/officeDocument/2006/relationships/notesMaster" Target="/ppt/notesMasters/notesMaster1.xml" Id="R6fae41c6095f4d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cbe3bc349842ce" /><Relationship Type="http://schemas.openxmlformats.org/officeDocument/2006/relationships/notesMaster" Target="/ppt/notesMasters/notesMaster1.xml" Id="R1e681e65652c48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49c4fe186a4122" /><Relationship Type="http://schemas.openxmlformats.org/officeDocument/2006/relationships/notesMaster" Target="/ppt/notesMasters/notesMaster1.xml" Id="R5173f3f55118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b8d0050d8455f" /><Relationship Type="http://schemas.openxmlformats.org/officeDocument/2006/relationships/notesMaster" Target="/ppt/notesMasters/notesMaster1.xml" Id="R4ef170bb99bd46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8e97b8368b4dbd" /><Relationship Type="http://schemas.openxmlformats.org/officeDocument/2006/relationships/notesMaster" Target="/ppt/notesMasters/notesMaster1.xml" Id="R0bbb81e4e1824a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b4abc31b3747b5" /><Relationship Type="http://schemas.openxmlformats.org/officeDocument/2006/relationships/notesMaster" Target="/ppt/notesMasters/notesMaster1.xml" Id="R23d8aaffdcfa4a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ff2ed3473c4dc8" /><Relationship Type="http://schemas.openxmlformats.org/officeDocument/2006/relationships/notesMaster" Target="/ppt/notesMasters/notesMaster1.xml" Id="R0272b1b2c52b4a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b000eaab9c4e42" /><Relationship Type="http://schemas.openxmlformats.org/officeDocument/2006/relationships/notesMaster" Target="/ppt/notesMasters/notesMaster1.xml" Id="R2073b2defede42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f589e778f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249c670d564818" /><Relationship Type="http://schemas.openxmlformats.org/officeDocument/2006/relationships/slideLayout" Target="/ppt/slideLayouts/slideLayout1.xml" Id="Rbe2a56984f9b44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a56984f9b44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f8cd43f6e49f7" /><Relationship Type="http://schemas.openxmlformats.org/officeDocument/2006/relationships/notesSlide" Target="/ppt/notesSlides/notesSlide1.xml" Id="R599fbdfbd0d442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a6faa50e84c20" /><Relationship Type="http://schemas.openxmlformats.org/officeDocument/2006/relationships/image" Target="/ppt/media/image.png" Id="R9c3f8141112743d3" /><Relationship Type="http://schemas.openxmlformats.org/officeDocument/2006/relationships/notesSlide" Target="/ppt/notesSlides/notesSlide2.xml" Id="Re52712e86f6e44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80e00e73b479a" /><Relationship Type="http://schemas.openxmlformats.org/officeDocument/2006/relationships/image" Target="/ppt/media/image2.png" Id="R7969de3cdb624e68" /><Relationship Type="http://schemas.openxmlformats.org/officeDocument/2006/relationships/notesSlide" Target="/ppt/notesSlides/notesSlide3.xml" Id="R41d55a80e39e48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a127460ae4e86" /><Relationship Type="http://schemas.openxmlformats.org/officeDocument/2006/relationships/image" Target="/ppt/media/image3.png" Id="R7c6aa14cbf1147aa" /><Relationship Type="http://schemas.openxmlformats.org/officeDocument/2006/relationships/notesSlide" Target="/ppt/notesSlides/notesSlide4.xml" Id="R8224c6ce83764f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0177418f24348" /><Relationship Type="http://schemas.openxmlformats.org/officeDocument/2006/relationships/image" Target="/ppt/media/image4.png" Id="Rd70b3bc5dc5141be" /><Relationship Type="http://schemas.openxmlformats.org/officeDocument/2006/relationships/notesSlide" Target="/ppt/notesSlides/notesSlide5.xml" Id="R9e89d32daa9c41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01e19fb174e68" /><Relationship Type="http://schemas.openxmlformats.org/officeDocument/2006/relationships/image" Target="/ppt/media/image5.png" Id="R8182422555c4491b" /><Relationship Type="http://schemas.openxmlformats.org/officeDocument/2006/relationships/notesSlide" Target="/ppt/notesSlides/notesSlide6.xml" Id="R54e9a103b9224d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ac5821d734d31" /><Relationship Type="http://schemas.openxmlformats.org/officeDocument/2006/relationships/image" Target="/ppt/media/image6.png" Id="Rd68cd270f99d434c" /><Relationship Type="http://schemas.openxmlformats.org/officeDocument/2006/relationships/notesSlide" Target="/ppt/notesSlides/notesSlide7.xml" Id="Rb8bee0115e7742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6c176a3da47b6" /><Relationship Type="http://schemas.openxmlformats.org/officeDocument/2006/relationships/notesSlide" Target="/ppt/notesSlides/notesSlide8.xml" Id="R1390382ccebe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fdb0886f46b8" /><Relationship Type="http://schemas.openxmlformats.org/officeDocument/2006/relationships/notesSlide" Target="/ppt/notesSlides/notesSlide9.xml" Id="R95715f7e802b44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A86A7-8B7C-4F1B-B758-4C3E159D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ECCB4-5AB5-494B-9703-5B0387C9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CameraE2E 기술 구조와 활용 가능성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10822-82A9-4624-BDD7-08151B39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Scene, optics, image sensor, ISP, hardware timing, metrics, perception을 하나의 E2E 설명자료로 병합했습니다.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4807A-4C09-4604-BEE9-0D43942D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구성: 표지 + imagegen 다이어그램 6장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04F4D-AE2B-4CDD-8ABE-9FFEEEA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Physics 근사는 설계 탐색과 민감도 분석에 유용하지만, 제품 sign-off에는 measured calibration이 필요합니다.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D3AD8-F523-4E7B-A3B4-E032C12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903B1-0E1D-419C-A6D7-D994748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CameraE2E / pyisetcam technical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4EBD8-05FB-49B8-A22C-DBA0F185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6660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f8141112743d3"/>
          <a:stretch xmlns:a="http://schemas.openxmlformats.org/drawingml/2006/main"/>
        </p:blipFill>
        <p:spPr>
          <a:xfrm xmlns:a="http://schemas.openxmlformats.org/drawingml/2006/main">
            <a:off x="138634" y="76200"/>
            <a:ext cx="11914732" cy="6705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16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9de3cdb624e68"/>
          <a:stretch xmlns:a="http://schemas.openxmlformats.org/drawingml/2006/main"/>
        </p:blipFill>
        <p:spPr>
          <a:xfrm xmlns:a="http://schemas.openxmlformats.org/drawingml/2006/main">
            <a:off x="138634" y="76200"/>
            <a:ext cx="11914732" cy="6705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10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aa14cbf1147aa"/>
          <a:stretch xmlns:a="http://schemas.openxmlformats.org/drawingml/2006/main"/>
        </p:blipFill>
        <p:spPr>
          <a:xfrm xmlns:a="http://schemas.openxmlformats.org/drawingml/2006/main">
            <a:off x="138634" y="76200"/>
            <a:ext cx="11914732" cy="6705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10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b3bc5dc5141be"/>
          <a:stretch xmlns:a="http://schemas.openxmlformats.org/drawingml/2006/main"/>
        </p:blipFill>
        <p:spPr>
          <a:xfrm xmlns:a="http://schemas.openxmlformats.org/drawingml/2006/main">
            <a:off x="138634" y="76200"/>
            <a:ext cx="11914732" cy="6705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46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2422555c4491b"/>
          <a:stretch xmlns:a="http://schemas.openxmlformats.org/drawingml/2006/main"/>
        </p:blipFill>
        <p:spPr>
          <a:xfrm xmlns:a="http://schemas.openxmlformats.org/drawingml/2006/main">
            <a:off x="138634" y="76200"/>
            <a:ext cx="11914732" cy="6705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8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cd270f99d434c"/>
          <a:stretch xmlns:a="http://schemas.openxmlformats.org/drawingml/2006/main"/>
        </p:blipFill>
        <p:spPr>
          <a:xfrm xmlns:a="http://schemas.openxmlformats.org/drawingml/2006/main">
            <a:off x="1066800" y="76200"/>
            <a:ext cx="10058400" cy="6705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50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54">
            <a:extLst xmlns:a="http://schemas.openxmlformats.org/drawingml/2006/main">
              <a:ext uri="{FF2B5EF4-FFF2-40B4-BE49-F238E27FC236}">
                <a16:creationId xmlns:a16="http://schemas.microsoft.com/office/drawing/2014/main" id="{1C716D63-9369-497A-BB7C-97263A9D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2" name="slide8-title">
            <a:extLst xmlns:a="http://schemas.openxmlformats.org/drawingml/2006/main">
              <a:ext uri="{FF2B5EF4-FFF2-40B4-BE49-F238E27FC236}">
                <a16:creationId xmlns:a16="http://schemas.microsoft.com/office/drawing/2014/main" id="{D8542129-E22E-48DA-97AF-1BF5E4DA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구현 업데이트: Registry, FACA, RAW data factory가 연결됐습니다</a:t>
            </a:r>
          </a:p>
        </p:txBody>
      </p:sp>
      <p:sp>
        <p:nvSpPr>
          <p:cNvPr id="3" name="slide8-subtitle">
            <a:extLst xmlns:a="http://schemas.openxmlformats.org/drawingml/2006/main">
              <a:ext uri="{FF2B5EF4-FFF2-40B4-BE49-F238E27FC236}">
                <a16:creationId xmlns:a16="http://schemas.microsoft.com/office/drawing/2014/main" id="{53903F77-372C-40EA-AB5C-7924C836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PPT의 목표 범위를 코드에서 추적할 수 있도록 capability, asset, data export를 같은 manifest 체계로 묶었습니다.</a:t>
            </a:r>
          </a:p>
        </p:txBody>
      </p:sp>
      <p:sp>
        <p:nvSpPr>
          <p:cNvPr id="4" name="tier-validated">
            <a:extLst xmlns:a="http://schemas.openxmlformats.org/drawingml/2006/main">
              <a:ext uri="{FF2B5EF4-FFF2-40B4-BE49-F238E27FC236}">
                <a16:creationId xmlns:a16="http://schemas.microsoft.com/office/drawing/2014/main" id="{F61A671F-5845-45F8-95F5-BD33B18B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1447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F99D"/>
          </a:solidFill>
          <a:ln xmlns:a="http://schemas.openxmlformats.org/drawingml/2006/main" w="0">
            <a:solidFill>
              <a:srgbClr val="D9F9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validated</a:t>
            </a:r>
          </a:p>
        </p:txBody>
      </p:sp>
      <p:sp>
        <p:nvSpPr>
          <p:cNvPr id="5" name="tier-proxy">
            <a:extLst xmlns:a="http://schemas.openxmlformats.org/drawingml/2006/main">
              <a:ext uri="{FF2B5EF4-FFF2-40B4-BE49-F238E27FC236}">
                <a16:creationId xmlns:a16="http://schemas.microsoft.com/office/drawing/2014/main" id="{026093D0-E1D8-4894-B6F9-148F5F66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43200"/>
            <a:ext cx="1447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FED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proxy</a:t>
            </a:r>
          </a:p>
        </p:txBody>
      </p:sp>
      <p:sp>
        <p:nvSpPr>
          <p:cNvPr id="6" name="tier-calibration_required">
            <a:extLst xmlns:a="http://schemas.openxmlformats.org/drawingml/2006/main">
              <a:ext uri="{FF2B5EF4-FFF2-40B4-BE49-F238E27FC236}">
                <a16:creationId xmlns:a16="http://schemas.microsoft.com/office/drawing/2014/main" id="{E7A8F24B-7ACC-48B4-9145-3A1B4C1D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1447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calibration_required</a:t>
            </a:r>
          </a:p>
        </p:txBody>
      </p:sp>
      <p:sp>
        <p:nvSpPr>
          <p:cNvPr id="7" name="slide8-body">
            <a:extLst xmlns:a="http://schemas.openxmlformats.org/drawingml/2006/main">
              <a:ext uri="{FF2B5EF4-FFF2-40B4-BE49-F238E27FC236}">
                <a16:creationId xmlns:a16="http://schemas.microsoft.com/office/drawing/2014/main" id="{F0FE5639-03E1-45CC-9BB5-25D8F1C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DB/LUT registry: camerae2e_db_manifest, camerae2e_db_validate, camerae2e_db_lineage</a:t>
            </a:r>
          </a:p>
          <a:p xmlns:a="http://schemas.openxmlformats.org/drawingml/2006/main">
            <a:pPr>
              <a:buNone/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System FACA: camerae2e_run_scenario, camerae2e_run_sweep, camerae2e_faca_report</a:t>
            </a:r>
          </a:p>
          <a:p xmlns:a="http://schemas.openxmlformats.org/drawingml/2006/main">
            <a:pPr>
              <a:buNone/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RAW data factory: manifest.json, metadata.jsonl, RAW NPZ, RGB preview, labels JSON</a:t>
            </a:r>
          </a:p>
          <a:p xmlns:a="http://schemas.openxmlformats.org/drawingml/2006/main">
            <a:pPr>
              <a:buNone/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Report outputs: reports/camerae2e_goal/readiness.html and asset_registry.html</a:t>
            </a:r>
          </a:p>
        </p:txBody>
      </p:sp>
      <p:sp>
        <p:nvSpPr>
          <p:cNvPr id="8" name="slide8-footer">
            <a:extLst xmlns:a="http://schemas.openxmlformats.org/drawingml/2006/main">
              <a:ext uri="{FF2B5EF4-FFF2-40B4-BE49-F238E27FC236}">
                <a16:creationId xmlns:a16="http://schemas.microsoft.com/office/drawing/2014/main" id="{D555CFCF-1565-42CF-813C-35CCD11C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Research-grade optimization and data generation are enabled; product sign-off still requires measured calibration.</a:t>
            </a:r>
          </a:p>
        </p:txBody>
      </p:sp>
      <p:sp>
        <p:nvSpPr>
          <p:cNvPr id="9" name="slide8-page">
            <a:extLst xmlns:a="http://schemas.openxmlformats.org/drawingml/2006/main">
              <a:ext uri="{FF2B5EF4-FFF2-40B4-BE49-F238E27FC236}">
                <a16:creationId xmlns:a16="http://schemas.microsoft.com/office/drawing/2014/main" id="{729DC0AE-C1E2-4DFD-A7E0-A027319D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4777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54">
            <a:extLst xmlns:a="http://schemas.openxmlformats.org/drawingml/2006/main">
              <a:ext uri="{FF2B5EF4-FFF2-40B4-BE49-F238E27FC236}">
                <a16:creationId xmlns:a16="http://schemas.microsoft.com/office/drawing/2014/main" id="{AD577C9F-F29F-4070-B8FE-77E40204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2" name="slide9-title">
            <a:extLst xmlns:a="http://schemas.openxmlformats.org/drawingml/2006/main">
              <a:ext uri="{FF2B5EF4-FFF2-40B4-BE49-F238E27FC236}">
                <a16:creationId xmlns:a16="http://schemas.microsoft.com/office/drawing/2014/main" id="{371D15F2-B01A-431E-BFD8-2D39F53B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Physics 근사는 유용하지만 readiness gate가 claim을 제한합니다</a:t>
            </a:r>
          </a:p>
        </p:txBody>
      </p:sp>
      <p:sp>
        <p:nvSpPr>
          <p:cNvPr id="3" name="slide9-subtitle">
            <a:extLst xmlns:a="http://schemas.openxmlformats.org/drawingml/2006/main">
              <a:ext uri="{FF2B5EF4-FFF2-40B4-BE49-F238E27FC236}">
                <a16:creationId xmlns:a16="http://schemas.microsoft.com/office/drawing/2014/main" id="{0FF89934-55F8-4B1F-B62D-7B3F379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FDTD, TCAD, RayOptics, HW ISP는 모두 연결됐지만 measured evidence가 없으면 calibrated tier로 승격하지 않습니다.</a:t>
            </a:r>
          </a:p>
        </p:txBody>
      </p:sp>
      <p:sp>
        <p:nvSpPr>
          <p:cNvPr id="4" name="FDTD + TCAD-accent">
            <a:extLst xmlns:a="http://schemas.openxmlformats.org/drawingml/2006/main">
              <a:ext uri="{FF2B5EF4-FFF2-40B4-BE49-F238E27FC236}">
                <a16:creationId xmlns:a16="http://schemas.microsoft.com/office/drawing/2014/main" id="{026B4F35-7DE2-4BBF-896C-F227CF04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5" name="FDTD + TCAD-title">
            <a:extLst xmlns:a="http://schemas.openxmlformats.org/drawingml/2006/main">
              <a:ext uri="{FF2B5EF4-FFF2-40B4-BE49-F238E27FC236}">
                <a16:creationId xmlns:a16="http://schemas.microsoft.com/office/drawing/2014/main" id="{3E898584-8662-4BCC-8FD9-AC829799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FDTD + TCAD</a:t>
            </a:r>
          </a:p>
        </p:txBody>
      </p:sp>
      <p:sp>
        <p:nvSpPr>
          <p:cNvPr id="6" name="FDTD + TCAD-body">
            <a:extLst xmlns:a="http://schemas.openxmlformats.org/drawingml/2006/main">
              <a:ext uri="{FF2B5EF4-FFF2-40B4-BE49-F238E27FC236}">
                <a16:creationId xmlns:a16="http://schemas.microsoft.com/office/drawing/2014/main" id="{0B0AE760-9709-40E0-9806-B6632FF0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62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Active FDTD LUT와 TCAD generation map lineage를 비교합니다. 현재 mismatch는 stale_dependency로 보고되며 strict validation에서는 blocking evidence가 됩니다.</a:t>
            </a:r>
          </a:p>
        </p:txBody>
      </p:sp>
      <p:sp>
        <p:nvSpPr>
          <p:cNvPr id="7" name="RayOptics-accent">
            <a:extLst xmlns:a="http://schemas.openxmlformats.org/drawingml/2006/main">
              <a:ext uri="{FF2B5EF4-FFF2-40B4-BE49-F238E27FC236}">
                <a16:creationId xmlns:a16="http://schemas.microsoft.com/office/drawing/2014/main" id="{D5EB6877-6216-420D-89CE-29AD79BA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" name="RayOptics-title">
            <a:extLst xmlns:a="http://schemas.openxmlformats.org/drawingml/2006/main">
              <a:ext uri="{FF2B5EF4-FFF2-40B4-BE49-F238E27FC236}">
                <a16:creationId xmlns:a16="http://schemas.microsoft.com/office/drawing/2014/main" id="{71CF58A1-9723-4641-9976-BEAC7B4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RayOptics</a:t>
            </a:r>
          </a:p>
        </p:txBody>
      </p:sp>
      <p:sp>
        <p:nvSpPr>
          <p:cNvPr id="9" name="RayOptics-body">
            <a:extLst xmlns:a="http://schemas.openxmlformats.org/drawingml/2006/main">
              <a:ext uri="{FF2B5EF4-FFF2-40B4-BE49-F238E27FC236}">
                <a16:creationId xmlns:a16="http://schemas.microsoft.com/office/drawing/2014/main" id="{6DEBB204-3C98-4CD1-86CD-D8B31BA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2971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Lens DB와 PSF asset은 CameraE2E에서 실행되지만 geometric ray histogram입니다. Diffraction/WVF와 혼동하지 않습니다.</a:t>
            </a:r>
          </a:p>
        </p:txBody>
      </p:sp>
      <p:sp>
        <p:nvSpPr>
          <p:cNvPr id="10" name="HW ISP-accent">
            <a:extLst xmlns:a="http://schemas.openxmlformats.org/drawingml/2006/main">
              <a:ext uri="{FF2B5EF4-FFF2-40B4-BE49-F238E27FC236}">
                <a16:creationId xmlns:a16="http://schemas.microsoft.com/office/drawing/2014/main" id="{4BE3B112-A674-4F5F-BA7A-490A7B4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1" name="HW ISP-title">
            <a:extLst xmlns:a="http://schemas.openxmlformats.org/drawingml/2006/main">
              <a:ext uri="{FF2B5EF4-FFF2-40B4-BE49-F238E27FC236}">
                <a16:creationId xmlns:a16="http://schemas.microsoft.com/office/drawing/2014/main" id="{1F2D930E-BA83-49AE-AD1B-A47949D5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HW ISP</a:t>
            </a:r>
          </a:p>
        </p:txBody>
      </p:sp>
      <p:sp>
        <p:nvSpPr>
          <p:cNvPr id="12" name="HW ISP-body">
            <a:extLst xmlns:a="http://schemas.openxmlformats.org/drawingml/2006/main">
              <a:ext uri="{FF2B5EF4-FFF2-40B4-BE49-F238E27FC236}">
                <a16:creationId xmlns:a16="http://schemas.microsoft.com/office/drawing/2014/main" id="{3FB862B8-CD16-47C5-8209-A952912E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30670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Seed profile은 timing/control 연구용입니다. Board trace, BSP timing, hardware counter 없이는 latency sign-off로 쓰지 않습니다.</a:t>
            </a:r>
          </a:p>
        </p:txBody>
      </p:sp>
      <p:sp>
        <p:nvSpPr>
          <p:cNvPr id="13" name="slide9-footer">
            <a:extLst xmlns:a="http://schemas.openxmlformats.org/drawingml/2006/main">
              <a:ext uri="{FF2B5EF4-FFF2-40B4-BE49-F238E27FC236}">
                <a16:creationId xmlns:a16="http://schemas.microsoft.com/office/drawing/2014/main" id="{3FDE968E-D635-4A64-AB6D-687F8B99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Next gate: sensor-specific FDTD LUT, calibrated TCAD profile, measured HW timing, dataset distribution checks.</a:t>
            </a:r>
          </a:p>
        </p:txBody>
      </p:sp>
      <p:sp>
        <p:nvSpPr>
          <p:cNvPr id="14" name="slide9-page">
            <a:extLst xmlns:a="http://schemas.openxmlformats.org/drawingml/2006/main">
              <a:ext uri="{FF2B5EF4-FFF2-40B4-BE49-F238E27FC236}">
                <a16:creationId xmlns:a16="http://schemas.microsoft.com/office/drawing/2014/main" id="{82256013-073F-44B1-B62F-4A0D70E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29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2026-07-05T03:06:18.8020000Z</dcterms:created>
  <dcterms:modified xsi:type="dcterms:W3CDTF">2026-07-05T03:06:18.8020000Z</dcterms:modified>
</coreProperties>
</file>